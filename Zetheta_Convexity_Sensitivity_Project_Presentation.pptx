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BOND PORTFOLIO</a:t>
            </a:r>
          </a:p>
          <a:p>
            <a:pPr algn="l">
              <a:spcAft>
                <a:spcPts val="700"/>
              </a:spcAft>
            </a:pPr>
            <a:r>
              <a:rPr sz="3400" b="1">
                <a:solidFill>
                  <a:srgbClr val="FFFFFF"/>
                </a:solidFill>
                <a:latin typeface="Aptos"/>
              </a:rPr>
              <a:t>RISK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400" b="1">
                <a:solidFill>
                  <a:srgbClr val="81DCD2"/>
                </a:solidFill>
                <a:latin typeface="Aptos"/>
              </a:rPr>
              <a:t>Convexity Sensitivity AI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Zetheta Project 1B • Data Analyst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6636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Presented by: Jaswanth Goud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0">
                <a:solidFill>
                  <a:srgbClr val="CCDAE9"/>
                </a:solidFill>
                <a:latin typeface="Aptos"/>
              </a:rPr>
              <a:t>Python  |  Excel  |  Power BI  | 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62B4C"/>
                </a:solidFill>
                <a:latin typeface="Aptos"/>
              </a:rP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143000" cy="54864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2396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26C77"/>
                </a:solidFill>
                <a:latin typeface="Aptos"/>
              </a:rPr>
              <a:t>ZHETHETA PROJECT 1B  •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600"/>
              </a:spcAft>
              <a:defRPr sz="2000">
                <a:solidFill>
                  <a:srgbClr val="28313C"/>
                </a:solidFill>
                <a:latin typeface="Aptos"/>
              </a:defRPr>
            </a:pPr>
            <a:r>
              <a:t>Goal: explain how changes in market yields may affect a bond portfolio.</a:t>
            </a:r>
          </a:p>
          <a:p>
            <a:pPr>
              <a:buChar char="•"/>
              <a:spcAft>
                <a:spcPts val="1600"/>
              </a:spcAft>
              <a:defRPr sz="2000">
                <a:solidFill>
                  <a:srgbClr val="28313C"/>
                </a:solidFill>
                <a:latin typeface="Aptos"/>
              </a:defRPr>
            </a:pPr>
            <a:r>
              <a:t>Analyze portfolio characteristics using yield, modified duration, and convexity.</a:t>
            </a:r>
          </a:p>
          <a:p>
            <a:pPr>
              <a:buChar char="•"/>
              <a:spcAft>
                <a:spcPts val="1600"/>
              </a:spcAft>
              <a:defRPr sz="2000">
                <a:solidFill>
                  <a:srgbClr val="28313C"/>
                </a:solidFill>
                <a:latin typeface="Aptos"/>
              </a:defRPr>
            </a:pPr>
            <a:r>
              <a:t>Estimate risk under Monte Carlo scenarios and compare yield-shock scenarios.</a:t>
            </a:r>
          </a:p>
          <a:p>
            <a:pPr>
              <a:buChar char="•"/>
              <a:spcAft>
                <a:spcPts val="1600"/>
              </a:spcAft>
              <a:defRPr sz="2000">
                <a:solidFill>
                  <a:srgbClr val="28313C"/>
                </a:solidFill>
                <a:latin typeface="Aptos"/>
              </a:defRPr>
            </a:pPr>
            <a:r>
              <a:t>Present findings through Excel, Power BI, and an interactive Streamlit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62B4C"/>
                </a:solidFill>
                <a:latin typeface="Aptos"/>
              </a:rPr>
              <a:t>Objectives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143000" cy="54864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2396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26C77"/>
                </a:solidFill>
                <a:latin typeface="Aptos"/>
              </a:rPr>
              <a:t>ZHETHETA PROJECT 1B  • 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514600" cy="2194560"/>
          </a:xfrm>
          <a:prstGeom prst="roundRect">
            <a:avLst/>
          </a:prstGeom>
          <a:solidFill>
            <a:srgbClr val="EBF3FA"/>
          </a:solidFill>
          <a:ln>
            <a:solidFill>
              <a:srgbClr val="D5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239991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87168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162B4C"/>
                </a:solidFill>
                <a:latin typeface="Aptos"/>
              </a:rPr>
              <a:t>Load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2103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626C77"/>
                </a:solidFill>
                <a:latin typeface="Aptos"/>
              </a:rPr>
              <a:t>Bond portfolio, yield history, scenario CSVs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514600" cy="2194560"/>
          </a:xfrm>
          <a:prstGeom prst="roundRect">
            <a:avLst/>
          </a:prstGeom>
          <a:solidFill>
            <a:srgbClr val="EBF3FA"/>
          </a:solidFill>
          <a:ln>
            <a:solidFill>
              <a:srgbClr val="D5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99339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239991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487168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162B4C"/>
                </a:solidFill>
                <a:latin typeface="Aptos"/>
              </a:rP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017520"/>
            <a:ext cx="2103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626C77"/>
                </a:solidFill>
                <a:latin typeface="Aptos"/>
              </a:rPr>
              <a:t>Clean, summarize, calculate sensitivity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828800"/>
            <a:ext cx="2514600" cy="2194560"/>
          </a:xfrm>
          <a:prstGeom prst="roundRect">
            <a:avLst/>
          </a:prstGeom>
          <a:solidFill>
            <a:srgbClr val="EBF3FA"/>
          </a:solidFill>
          <a:ln>
            <a:solidFill>
              <a:srgbClr val="D5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99339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239991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487168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162B4C"/>
                </a:solidFill>
                <a:latin typeface="Aptos"/>
              </a:rPr>
              <a:t>Measure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017520"/>
            <a:ext cx="2103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626C77"/>
                </a:solidFill>
                <a:latin typeface="Aptos"/>
              </a:rPr>
              <a:t>Monte Carlo VaR / CVaR and shocks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828800"/>
            <a:ext cx="2514600" cy="2194560"/>
          </a:xfrm>
          <a:prstGeom prst="roundRect">
            <a:avLst/>
          </a:prstGeom>
          <a:solidFill>
            <a:srgbClr val="EBF3FA"/>
          </a:solidFill>
          <a:ln>
            <a:solidFill>
              <a:srgbClr val="D5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59" y="199339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239991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59" y="2487168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162B4C"/>
                </a:solidFill>
                <a:latin typeface="Aptos"/>
              </a:rPr>
              <a:t>Visualize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59" y="3017520"/>
            <a:ext cx="2103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626C77"/>
                </a:solidFill>
                <a:latin typeface="Aptos"/>
              </a:rPr>
              <a:t>Excel, Power BI, Streamlit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92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162B4C"/>
                </a:solidFill>
                <a:latin typeface="Aptos"/>
              </a:rPr>
              <a:t>Input data  →  Analysis  →  Risk estimates  →  Interactive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62B4C"/>
                </a:solidFill>
                <a:latin typeface="Aptos"/>
              </a:rPr>
              <a:t>Tools &amp; Deliverables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143000" cy="54864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2396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26C77"/>
                </a:solidFill>
                <a:latin typeface="Aptos"/>
              </a:rPr>
              <a:t>ZHETHETA PROJECT 1B  •  04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1732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138160"/>
              </a:tblGrid>
              <a:tr h="8778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Python / Pandas / NumPy</a:t>
                      </a:r>
                    </a:p>
                  </a:txBody>
                  <a:tcPr marL="109728" marR="109728" marT="73152" marB="73152">
                    <a:solidFill>
                      <a:srgbClr val="16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Data handling, numerical analysis, application logic</a:t>
                      </a:r>
                    </a:p>
                  </a:txBody>
                  <a:tcPr marL="109728" marR="109728" marT="73152" marB="73152">
                    <a:solidFill>
                      <a:srgbClr val="162B4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8313C"/>
                          </a:solidFill>
                          <a:latin typeface="Aptos"/>
                        </a:rPr>
                        <a:t>Excel</a:t>
                      </a:r>
                    </a:p>
                  </a:txBody>
                  <a:tcPr marL="109728" marR="109728" marT="73152" marB="73152"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8313C"/>
                          </a:solidFill>
                          <a:latin typeface="Aptos"/>
                        </a:rPr>
                        <a:t>Summary workbook, scenario comparison, Monte Carlo risk, QA checklist</a:t>
                      </a:r>
                    </a:p>
                  </a:txBody>
                  <a:tcPr marL="109728" marR="109728" marT="73152" marB="73152">
                    <a:solidFill>
                      <a:srgbClr val="EBF3F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8313C"/>
                          </a:solidFill>
                          <a:latin typeface="Aptos"/>
                        </a:rPr>
                        <a:t>Power BI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8313C"/>
                          </a:solidFill>
                          <a:latin typeface="Aptos"/>
                        </a:rPr>
                        <a:t>Dashboard pages for visual exploration and reporting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8313C"/>
                          </a:solidFill>
                          <a:latin typeface="Aptos"/>
                        </a:rPr>
                        <a:t>Streamlit / Plotly</a:t>
                      </a:r>
                    </a:p>
                  </a:txBody>
                  <a:tcPr marL="109728" marR="109728" marT="73152" marB="73152"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8313C"/>
                          </a:solidFill>
                          <a:latin typeface="Aptos"/>
                        </a:rPr>
                        <a:t>Interactive portfolio metrics, charts, scenario comparison</a:t>
                      </a:r>
                    </a:p>
                  </a:txBody>
                  <a:tcPr marL="109728" marR="109728" marT="73152" marB="73152">
                    <a:solidFill>
                      <a:srgbClr val="EBF3F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8313C"/>
                          </a:solidFill>
                          <a:latin typeface="Aptos"/>
                        </a:rPr>
                        <a:t>Risk Agent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8313C"/>
                          </a:solidFill>
                          <a:latin typeface="Aptos"/>
                        </a:rPr>
                        <a:t>Rule-based Q&amp;A over common displayed risk metrics</a:t>
                      </a:r>
                    </a:p>
                  </a:txBody>
                  <a:tcPr marL="109728" marR="109728" marT="73152" marB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62B4C"/>
                </a:solidFill>
                <a:latin typeface="Aptos"/>
              </a:rPr>
              <a:t>Portfolio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143000" cy="54864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2396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26C77"/>
                </a:solidFill>
                <a:latin typeface="Aptos"/>
              </a:rPr>
              <a:t>ZHETHETA PROJECT 1B  • 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1508760"/>
          </a:xfrm>
          <a:prstGeom prst="roundRect">
            <a:avLst/>
          </a:prstGeom>
          <a:solidFill>
            <a:srgbClr val="EBF3FA"/>
          </a:solidFill>
          <a:ln>
            <a:solidFill>
              <a:srgbClr val="D5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82296" cy="150876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27632"/>
            <a:ext cx="2240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626C77"/>
                </a:solidFill>
                <a:latin typeface="Aptos"/>
              </a:rPr>
              <a:t>BONDS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240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>
                <a:solidFill>
                  <a:srgbClr val="162B4C"/>
                </a:solidFill>
                <a:latin typeface="Aptos"/>
              </a:rPr>
              <a:t>300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63040"/>
            <a:ext cx="2560320" cy="1508760"/>
          </a:xfrm>
          <a:prstGeom prst="roundRect">
            <a:avLst/>
          </a:prstGeom>
          <a:solidFill>
            <a:srgbClr val="EBF3FA"/>
          </a:solidFill>
          <a:ln>
            <a:solidFill>
              <a:srgbClr val="D5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463040"/>
            <a:ext cx="82296" cy="1508760"/>
          </a:xfrm>
          <a:prstGeom prst="rect">
            <a:avLst/>
          </a:prstGeom>
          <a:solidFill>
            <a:srgbClr val="2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1627632"/>
            <a:ext cx="2240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626C77"/>
                </a:solidFill>
                <a:latin typeface="Aptos"/>
              </a:rPr>
              <a:t>MARKET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1975104"/>
            <a:ext cx="2240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>
                <a:solidFill>
                  <a:srgbClr val="162B4C"/>
                </a:solidFill>
                <a:latin typeface="Aptos"/>
              </a:rPr>
              <a:t>₹3.21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450592"/>
            <a:ext cx="2240279" cy="4846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626C77"/>
                </a:solidFill>
                <a:latin typeface="Aptos"/>
              </a:rPr>
              <a:t>₹32,059,346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2560320" cy="1508760"/>
          </a:xfrm>
          <a:prstGeom prst="roundRect">
            <a:avLst/>
          </a:prstGeom>
          <a:solidFill>
            <a:srgbClr val="EBF3FA"/>
          </a:solidFill>
          <a:ln>
            <a:solidFill>
              <a:srgbClr val="D5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82296" cy="1508760"/>
          </a:xfrm>
          <a:prstGeom prst="rect">
            <a:avLst/>
          </a:prstGeom>
          <a:solidFill>
            <a:srgbClr val="E19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627632"/>
            <a:ext cx="2240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626C77"/>
                </a:solidFill>
                <a:latin typeface="Aptos"/>
              </a:rPr>
              <a:t>AVERAGE YTM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975104"/>
            <a:ext cx="2240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>
                <a:solidFill>
                  <a:srgbClr val="162B4C"/>
                </a:solidFill>
                <a:latin typeface="Aptos"/>
              </a:rPr>
              <a:t>6.88%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463040"/>
            <a:ext cx="2560320" cy="1508760"/>
          </a:xfrm>
          <a:prstGeom prst="roundRect">
            <a:avLst/>
          </a:prstGeom>
          <a:solidFill>
            <a:srgbClr val="EBF3FA"/>
          </a:solidFill>
          <a:ln>
            <a:solidFill>
              <a:srgbClr val="D5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463040"/>
            <a:ext cx="82296" cy="150876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288" y="1627632"/>
            <a:ext cx="2240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626C77"/>
                </a:solidFill>
                <a:latin typeface="Aptos"/>
              </a:rPr>
              <a:t>MODIFIED DURATION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1975104"/>
            <a:ext cx="224027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>
                <a:solidFill>
                  <a:srgbClr val="162B4C"/>
                </a:solidFill>
                <a:latin typeface="Aptos"/>
              </a:rPr>
              <a:t>4.92 yrs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3657600"/>
            <a:ext cx="2743200" cy="1508760"/>
          </a:xfrm>
          <a:prstGeom prst="roundRect">
            <a:avLst/>
          </a:prstGeom>
          <a:solidFill>
            <a:srgbClr val="EBF3FA"/>
          </a:solidFill>
          <a:ln>
            <a:solidFill>
              <a:srgbClr val="D5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0" y="3657600"/>
            <a:ext cx="82296" cy="1508760"/>
          </a:xfrm>
          <a:prstGeom prst="rect">
            <a:avLst/>
          </a:prstGeom>
          <a:solidFill>
            <a:srgbClr val="2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44368" y="3822191"/>
            <a:ext cx="2423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626C77"/>
                </a:solidFill>
                <a:latin typeface="Aptos"/>
              </a:rPr>
              <a:t>AVERAGE CONVEXITY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44368" y="4169664"/>
            <a:ext cx="2423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>
                <a:solidFill>
                  <a:srgbClr val="162B4C"/>
                </a:solidFill>
                <a:latin typeface="Aptos"/>
              </a:rPr>
              <a:t>57.35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3657600"/>
            <a:ext cx="2743200" cy="1508760"/>
          </a:xfrm>
          <a:prstGeom prst="roundRect">
            <a:avLst/>
          </a:prstGeom>
          <a:solidFill>
            <a:srgbClr val="EBF3FA"/>
          </a:solidFill>
          <a:ln>
            <a:solidFill>
              <a:srgbClr val="D5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3657600"/>
            <a:ext cx="82296" cy="1508760"/>
          </a:xfrm>
          <a:prstGeom prst="rect">
            <a:avLst/>
          </a:prstGeom>
          <a:solidFill>
            <a:srgbClr val="E19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3407" y="3822191"/>
            <a:ext cx="2423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626C77"/>
                </a:solidFill>
                <a:latin typeface="Aptos"/>
              </a:rPr>
              <a:t>MONTE CARLO RUNS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7" y="4169664"/>
            <a:ext cx="24231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>
                <a:solidFill>
                  <a:srgbClr val="162B4C"/>
                </a:solidFill>
                <a:latin typeface="Aptos"/>
              </a:rPr>
              <a:t>1,000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100" b="0">
                <a:solidFill>
                  <a:srgbClr val="626C77"/>
                </a:solidFill>
                <a:latin typeface="Aptos"/>
              </a:rPr>
              <a:t>Reported dashboard values; source CSV calculations have not been independently audited for this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62B4C"/>
                </a:solidFill>
                <a:latin typeface="Aptos"/>
              </a:rPr>
              <a:t>Duration &amp; Convexity Sensitivity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143000" cy="54864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2396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26C77"/>
                </a:solidFill>
                <a:latin typeface="Aptos"/>
              </a:rPr>
              <a:t>ZHETHETA PROJECT 1B  •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100" b="1">
                <a:solidFill>
                  <a:srgbClr val="162B4C"/>
                </a:solidFill>
                <a:latin typeface="Aptos"/>
              </a:rPr>
              <a:t>Approximate price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>
                <a:solidFill>
                  <a:srgbClr val="239991"/>
                </a:solidFill>
                <a:latin typeface="Aptos"/>
              </a:rPr>
              <a:t>ΔP ≈ −Dmod × P × Δy + ½ × C × P × (Δy)²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6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Duration estimates the first-order effect of a yield change.</a:t>
            </a:r>
          </a:p>
          <a:p>
            <a:pPr>
              <a:buChar char="•"/>
              <a:spcAft>
                <a:spcPts val="16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Convexity adds a second-order adjustment for the curved price–yield relationship.</a:t>
            </a:r>
          </a:p>
          <a:p>
            <a:pPr>
              <a:buChar char="•"/>
              <a:spcAft>
                <a:spcPts val="16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For a yield increase, duration effect is negative; positive convexity partly offsets the estimated loss.</a:t>
            </a:r>
          </a:p>
          <a:p>
            <a:pPr>
              <a:buChar char="•"/>
              <a:spcAft>
                <a:spcPts val="16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These are approximations, not full bond-by-bond repricing.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62B4C"/>
                </a:solidFill>
                <a:latin typeface="Aptos"/>
              </a:rPr>
              <a:t>Scenario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143000" cy="54864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2396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26C77"/>
                </a:solidFill>
                <a:latin typeface="Aptos"/>
              </a:rPr>
              <a:t>ZHETHETA PROJECT 1B  •  07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08760"/>
          <a:ext cx="11201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  <a:gridCol w="2926080"/>
                <a:gridCol w="3246120"/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Scenario</a:t>
                      </a:r>
                    </a:p>
                  </a:txBody>
                  <a:tcPr>
                    <a:solidFill>
                      <a:srgbClr val="162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Duration Effect</a:t>
                      </a:r>
                    </a:p>
                  </a:txBody>
                  <a:tcPr>
                    <a:solidFill>
                      <a:srgbClr val="162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Convexity Effect</a:t>
                      </a:r>
                    </a:p>
                  </a:txBody>
                  <a:tcPr>
                    <a:solidFill>
                      <a:srgbClr val="162B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Estimated Total P&amp;L</a:t>
                      </a:r>
                    </a:p>
                  </a:txBody>
                  <a:tcPr>
                    <a:solidFill>
                      <a:srgbClr val="162B4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313C"/>
                          </a:solidFill>
                          <a:latin typeface="Aptos"/>
                        </a:rPr>
                        <a:t>Normal: +25 bps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313C"/>
                          </a:solidFill>
                          <a:latin typeface="Aptos"/>
                        </a:rPr>
                        <a:t>−₹336,874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313C"/>
                          </a:solidFill>
                          <a:latin typeface="Aptos"/>
                        </a:rPr>
                        <a:t>+₹4,414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313C"/>
                          </a:solidFill>
                          <a:latin typeface="Aptos"/>
                        </a:rPr>
                        <a:t>−₹332,460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313C"/>
                          </a:solidFill>
                          <a:latin typeface="Aptos"/>
                        </a:rPr>
                        <a:t>Stress: +100 bps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313C"/>
                          </a:solidFill>
                          <a:latin typeface="Aptos"/>
                        </a:rPr>
                        <a:t>−₹1,347,495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313C"/>
                          </a:solidFill>
                          <a:latin typeface="Aptos"/>
                        </a:rPr>
                        <a:t>+₹70,629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313C"/>
                          </a:solidFill>
                          <a:latin typeface="Aptos"/>
                        </a:rPr>
                        <a:t>−₹1,276,867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313C"/>
                          </a:solidFill>
                          <a:latin typeface="Aptos"/>
                        </a:rPr>
                        <a:t>Crisis: +200 bps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313C"/>
                          </a:solidFill>
                          <a:latin typeface="Aptos"/>
                        </a:rPr>
                        <a:t>−₹2,694,990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313C"/>
                          </a:solidFill>
                          <a:latin typeface="Aptos"/>
                        </a:rPr>
                        <a:t>+₹282,515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8313C"/>
                          </a:solidFill>
                          <a:latin typeface="Aptos"/>
                        </a:rPr>
                        <a:t>−₹2,412,476</a:t>
                      </a:r>
                    </a:p>
                  </a:txBody>
                  <a:tcPr>
                    <a:solidFill>
                      <a:srgbClr val="EBF3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7492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62B4C"/>
                </a:solidFill>
                <a:latin typeface="Aptos"/>
              </a:rPr>
              <a:t>Interpretation: larger positive yield shocks show larger estimated losses in the displayed outputs.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626C77"/>
                </a:solidFill>
                <a:latin typeface="Aptos"/>
              </a:rPr>
              <a:t>Reported scenario outputs; reconcile to raw data and formulas before operational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62B4C"/>
                </a:solidFill>
                <a:latin typeface="Aptos"/>
              </a:rPr>
              <a:t>Monte Carlo Risk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143000" cy="54864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2396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26C77"/>
                </a:solidFill>
                <a:latin typeface="Aptos"/>
              </a:rPr>
              <a:t>ZHETHETA PROJECT 1B  • 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2926080" cy="1645920"/>
          </a:xfrm>
          <a:prstGeom prst="roundRect">
            <a:avLst/>
          </a:prstGeom>
          <a:solidFill>
            <a:srgbClr val="EBF3FA"/>
          </a:solidFill>
          <a:ln>
            <a:solidFill>
              <a:srgbClr val="D5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82296" cy="1645920"/>
          </a:xfrm>
          <a:prstGeom prst="rect">
            <a:avLst/>
          </a:prstGeom>
          <a:solidFill>
            <a:srgbClr val="2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1810512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626C77"/>
                </a:solidFill>
                <a:latin typeface="Aptos"/>
              </a:rPr>
              <a:t>SCENARIOS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157984"/>
            <a:ext cx="2606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>
                <a:solidFill>
                  <a:srgbClr val="162B4C"/>
                </a:solidFill>
                <a:latin typeface="Aptos"/>
              </a:rPr>
              <a:t>1,000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2926080" cy="1645920"/>
          </a:xfrm>
          <a:prstGeom prst="roundRect">
            <a:avLst/>
          </a:prstGeom>
          <a:solidFill>
            <a:srgbClr val="EBF3FA"/>
          </a:solidFill>
          <a:ln>
            <a:solidFill>
              <a:srgbClr val="D5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1645920"/>
            <a:ext cx="82296" cy="1645920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810512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626C77"/>
                </a:solidFill>
                <a:latin typeface="Aptos"/>
              </a:rPr>
              <a:t>95% VAR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157984"/>
            <a:ext cx="2606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>
                <a:solidFill>
                  <a:srgbClr val="162B4C"/>
                </a:solidFill>
                <a:latin typeface="Aptos"/>
              </a:rPr>
              <a:t>₹19.77 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633472"/>
            <a:ext cx="2606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626C77"/>
                </a:solidFill>
                <a:latin typeface="Aptos"/>
              </a:rPr>
              <a:t>₹1,976,671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2926080" cy="1645920"/>
          </a:xfrm>
          <a:prstGeom prst="roundRect">
            <a:avLst/>
          </a:prstGeom>
          <a:solidFill>
            <a:srgbClr val="EBF3FA"/>
          </a:solidFill>
          <a:ln>
            <a:solidFill>
              <a:srgbClr val="D5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82296" cy="1645920"/>
          </a:xfrm>
          <a:prstGeom prst="rect">
            <a:avLst/>
          </a:prstGeom>
          <a:solidFill>
            <a:srgbClr val="E19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1810512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626C77"/>
                </a:solidFill>
                <a:latin typeface="Aptos"/>
              </a:rPr>
              <a:t>99% VAR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2157984"/>
            <a:ext cx="2606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>
                <a:solidFill>
                  <a:srgbClr val="162B4C"/>
                </a:solidFill>
                <a:latin typeface="Aptos"/>
              </a:rPr>
              <a:t>₹25.17 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633472"/>
            <a:ext cx="26060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626C77"/>
                </a:solidFill>
                <a:latin typeface="Aptos"/>
              </a:rPr>
              <a:t>₹2,517,271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3886200"/>
            <a:ext cx="2926080" cy="1463040"/>
          </a:xfrm>
          <a:prstGeom prst="roundRect">
            <a:avLst/>
          </a:prstGeom>
          <a:solidFill>
            <a:srgbClr val="EBF3FA"/>
          </a:solidFill>
          <a:ln>
            <a:solidFill>
              <a:srgbClr val="D5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3886200"/>
            <a:ext cx="82296" cy="1463040"/>
          </a:xfrm>
          <a:prstGeom prst="rect">
            <a:avLst/>
          </a:prstGeom>
          <a:solidFill>
            <a:srgbClr val="2A6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50791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626C77"/>
                </a:solidFill>
                <a:latin typeface="Aptos"/>
              </a:rPr>
              <a:t>95% CVAR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4398264"/>
            <a:ext cx="2606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200" b="1">
                <a:solidFill>
                  <a:srgbClr val="162B4C"/>
                </a:solidFill>
                <a:latin typeface="Aptos"/>
              </a:rPr>
              <a:t>₹23.77 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4873752"/>
            <a:ext cx="2606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0">
                <a:solidFill>
                  <a:srgbClr val="626C77"/>
                </a:solidFill>
                <a:latin typeface="Aptos"/>
              </a:rPr>
              <a:t>₹2,377,154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626C77"/>
                </a:solidFill>
                <a:latin typeface="Aptos"/>
              </a:rPr>
              <a:t>Validate the loss sign convention, percentile calculation, and tail-average method against the raw scenarios.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62B4C"/>
                </a:solidFill>
                <a:latin typeface="Aptos"/>
              </a:rPr>
              <a:t>Streamlit Risk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143000" cy="54864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2396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26C77"/>
                </a:solidFill>
                <a:latin typeface="Aptos"/>
              </a:rPr>
              <a:t>ZHETHETA PROJECT 1B  •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6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Runs locally in a browser through Streamlit.</a:t>
            </a:r>
          </a:p>
          <a:p>
            <a:pPr>
              <a:buChar char="•"/>
              <a:spcAft>
                <a:spcPts val="16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Displays portfolio KPIs, yield sensitivity, Monte Carlo risk, yield curve, and portfolio data.</a:t>
            </a:r>
          </a:p>
          <a:p>
            <a:pPr>
              <a:buChar char="•"/>
              <a:spcAft>
                <a:spcPts val="16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Includes Scenario Comparison for normal, stress, and crisis shocks.</a:t>
            </a:r>
          </a:p>
          <a:p>
            <a:pPr>
              <a:buChar char="•"/>
              <a:spcAft>
                <a:spcPts val="16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The Q&amp;A interface is rule-based and answers common questions using displayed metrics.</a:t>
            </a:r>
          </a:p>
          <a:p>
            <a:pPr>
              <a:buChar char="•"/>
              <a:spcAft>
                <a:spcPts val="16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Future enhancement: connect a language model only after validating and grounding the calculations.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62B4C"/>
                </a:solidFill>
                <a:latin typeface="Aptos"/>
              </a:rPr>
              <a:t>Validation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143000" cy="54864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2396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26C77"/>
                </a:solidFill>
                <a:latin typeface="Aptos"/>
              </a:rPr>
              <a:t>ZHETHETA PROJECT 1B  •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6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Recompute portfolio KPIs directly from the original CSV data.</a:t>
            </a:r>
          </a:p>
          <a:p>
            <a:pPr>
              <a:buChar char="•"/>
              <a:spcAft>
                <a:spcPts val="16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Confirm basis-point conversion and duration/convexity formulas.</a:t>
            </a:r>
          </a:p>
          <a:p>
            <a:pPr>
              <a:buChar char="•"/>
              <a:spcAft>
                <a:spcPts val="16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Reconcile Python, Excel, Power BI, and Streamlit values.</a:t>
            </a:r>
          </a:p>
          <a:p>
            <a:pPr>
              <a:buChar char="•"/>
              <a:spcAft>
                <a:spcPts val="16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Validate VaR/CVaR sign conventions and tail calculations.</a:t>
            </a:r>
          </a:p>
          <a:p>
            <a:pPr>
              <a:buChar char="•"/>
              <a:spcAft>
                <a:spcPts val="16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This presentation reproduces displayed figures; it is not an independent financial audit.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81DCD2"/>
                </a:solidFill>
                <a:latin typeface="Aptos"/>
              </a:rPr>
              <a:t>A practical workflow for presenting bond portfolio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6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Brings portfolio analysis and interest-rate sensitivity into one workflow.</a:t>
            </a:r>
          </a:p>
          <a:p>
            <a:pPr>
              <a:buChar char="•"/>
              <a:spcAft>
                <a:spcPts val="16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Combines Python calculations with Excel, Power BI, and Streamlit presentation.</a:t>
            </a:r>
          </a:p>
          <a:p>
            <a:pPr>
              <a:buChar char="•"/>
              <a:spcAft>
                <a:spcPts val="16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Makes scenario results easier to communicate and compare.</a:t>
            </a:r>
          </a:p>
          <a:p>
            <a:pPr>
              <a:buChar char="•"/>
              <a:spcAft>
                <a:spcPts val="16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The next priority is validation against source data and documented assumptions.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80760"/>
            <a:ext cx="10241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FFFFFF"/>
                </a:solidFill>
                <a:latin typeface="Aptos"/>
              </a:rPr>
              <a:t>Thank you • Questions?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700" b="1">
                <a:solidFill>
                  <a:srgbClr val="162B4C"/>
                </a:solidFill>
                <a:latin typeface="Aptos"/>
              </a:rPr>
              <a:t>Live Demo &amp; Interview Talking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60120"/>
            <a:ext cx="1143000" cy="54864"/>
          </a:xfrm>
          <a:prstGeom prst="rect">
            <a:avLst/>
          </a:prstGeom>
          <a:solidFill>
            <a:srgbClr val="239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23960" y="65105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700"/>
              </a:spcAft>
            </a:pPr>
            <a:r>
              <a:rPr sz="800" b="0">
                <a:solidFill>
                  <a:srgbClr val="626C77"/>
                </a:solidFill>
                <a:latin typeface="Aptos"/>
              </a:rPr>
              <a:t>ZHETHETA PROJECT 1B  • 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16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Open the Streamlit app and show the portfolio KPI section.</a:t>
            </a:r>
          </a:p>
          <a:p>
            <a:pPr>
              <a:buChar char="•"/>
              <a:spcAft>
                <a:spcPts val="16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Demonstrate +25 bps, +100 bps, and +200 bps scenario comparison.</a:t>
            </a:r>
          </a:p>
          <a:p>
            <a:pPr>
              <a:buChar char="•"/>
              <a:spcAft>
                <a:spcPts val="16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Explain duration as first-order sensitivity and convexity as a second-order adjustment.</a:t>
            </a:r>
          </a:p>
          <a:p>
            <a:pPr>
              <a:buChar char="•"/>
              <a:spcAft>
                <a:spcPts val="16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Explain VaR as a loss threshold and CVaR as tail-loss average, subject to implementation.</a:t>
            </a:r>
          </a:p>
          <a:p>
            <a:pPr>
              <a:buChar char="•"/>
              <a:spcAft>
                <a:spcPts val="16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Be transparent: current Risk Agent is rule-based; figures need reconciliation to source CSVs.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